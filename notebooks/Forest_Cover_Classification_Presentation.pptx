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Topographic Forest Cover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Pipeline Review</a:t>
            </a:r>
          </a:p>
          <a:p>
            <a:r>
              <a:t>23CSE301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End-to-end machine learning pipeline to classify 30x30 meter forest plots.</a:t>
            </a:r>
          </a:p>
          <a:p>
            <a:pPr/>
            <a:r>
              <a:t>Target Variable: Cover_Type (7 discrete forest species).</a:t>
            </a:r>
          </a:p>
          <a:p>
            <a:pPr lvl="1"/>
            <a:r>
              <a:t>Examples: Spruce/Fir, Aspen, Lodgepole Pine.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Volume: Over 500,000 spatial records.</a:t>
            </a:r>
          </a:p>
          <a:p>
            <a:pPr/>
            <a:r>
              <a:t>Features: 54 independent variables.</a:t>
            </a:r>
          </a:p>
          <a:p>
            <a:pPr lvl="1"/>
            <a:r>
              <a:t>Continuous Topology: Elevation, Slope, Aspect.</a:t>
            </a:r>
          </a:p>
          <a:p>
            <a:pPr lvl="1"/>
            <a:r>
              <a:t>Categorical Data: Binary flags for Soil Types and Wilderness Areas.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Interpretability: Develop models suitable for geographic mapping applications.</a:t>
            </a:r>
          </a:p>
          <a:p>
            <a:pPr/>
            <a:r>
              <a:t>Class Imbalance Treatment: Ensure high classification accuracy across minority species using appropriately weighted metrics.</a:t>
            </a:r>
          </a:p>
          <a:p>
            <a:pPr/>
            <a:r>
              <a:t>Data Integrity: Establish strict boundaries to eliminate data leakage during feature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Preparation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Cleansing: Strict deduplication to prevent target leakage.</a:t>
            </a:r>
          </a:p>
          <a:p>
            <a:pPr/>
            <a:r>
              <a:t>Target Encoding: Sequential integer mapping (1-7 converted to 0-6).</a:t>
            </a:r>
          </a:p>
          <a:p>
            <a:pPr/>
            <a:r>
              <a:t>Spatial Feature Engineering:</a:t>
            </a:r>
          </a:p>
          <a:p>
            <a:pPr lvl="1"/>
            <a:r>
              <a:t>Calculated Euclidean distance to hydrology (combining horizontal and vertical vectors).</a:t>
            </a:r>
          </a:p>
          <a:p>
            <a:pPr lvl="1"/>
            <a:r>
              <a:t>Computed solar flux differentials (morning vs. afternoon hillshades).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Preprocessor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Partitioning: 80/20 stratified split preserves severe class proportions across train and test sets.</a:t>
            </a:r>
          </a:p>
          <a:p>
            <a:pPr/>
            <a:r>
              <a:t>ColumnTransformer Implementation:</a:t>
            </a:r>
          </a:p>
          <a:p>
            <a:pPr lvl="1"/>
            <a:r>
              <a:t>Standard scaling applied exclusively to continuous features.</a:t>
            </a:r>
          </a:p>
          <a:p>
            <a:pPr lvl="1"/>
            <a:r>
              <a:t>Binary categorical flags passed through unchanged to preserve matrix sparsity.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Predictive Modeling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 five core algorithms:</a:t>
            </a:r>
          </a:p>
          <a:p>
            <a:pPr lvl="1"/>
            <a:r>
              <a:t>Logistic Regression: Parametric baseline for multinomial log-odds.</a:t>
            </a:r>
          </a:p>
          <a:p>
            <a:pPr lvl="1"/>
            <a:r>
              <a:t>K-Nearest Neighbors (KNN): Distance-based spatial classification.</a:t>
            </a:r>
          </a:p>
          <a:p>
            <a:pPr lvl="1"/>
            <a:r>
              <a:t>Gaussian Naive Bayes: Probabilistic independence baseline.</a:t>
            </a:r>
          </a:p>
          <a:p>
            <a:pPr lvl="1"/>
            <a:r>
              <a:t>Decision Tree: Captures non-linear topological hierarchies (tuned via GridSearch).</a:t>
            </a:r>
          </a:p>
          <a:p>
            <a:pPr lvl="1"/>
            <a:r>
              <a:t>Support Vector Machine (SVC): RBF kernels for maximum-margin separation.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Accuracy, weighted F1, and confusion matrix reported per algorithm.</a:t>
            </a:r>
          </a:p>
          <a:p>
            <a:pPr/>
            <a:r>
              <a:t>Key Finding 1: Elevation remains the dominant discriminant across all cover types.</a:t>
            </a:r>
          </a:p>
          <a:p>
            <a:pPr/>
            <a:r>
              <a:t>Key Finding 2: Tree-based architectures and distance-weighted models effectively navigate non-linear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Results Table (Algorithms vs. Metrics)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Macro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Fit Time (s)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Tuned 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K-Nearest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Support Vector Machine (Subset)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5.41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Gaussian 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1 - Logistic Regression Coefficients</a:t>
            </a:r>
          </a:p>
        </p:txBody>
      </p:sp>
      <p:pic>
        <p:nvPicPr>
          <p:cNvPr id="3" name="Picture 2" descr="m1_logreg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0707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2 - KNN Sensitivity Analysis</a:t>
            </a:r>
          </a:p>
        </p:txBody>
      </p:sp>
      <p:pic>
        <p:nvPicPr>
          <p:cNvPr id="3" name="Picture 2" descr="m2_kn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5920"/>
            <a:ext cx="6858000" cy="33516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3 - Gaussian NB Density Profiles</a:t>
            </a:r>
          </a:p>
        </p:txBody>
      </p:sp>
      <p:pic>
        <p:nvPicPr>
          <p:cNvPr id="3" name="Picture 2" descr="m3_gaussian_nb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279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4 - Decision Tree Structure</a:t>
            </a:r>
          </a:p>
        </p:txBody>
      </p:sp>
      <p:pic>
        <p:nvPicPr>
          <p:cNvPr id="3" name="Picture 2" descr="m4_decision_tree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0290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4 - Decision Tree Feature Importance</a:t>
            </a:r>
          </a:p>
        </p:txBody>
      </p:sp>
      <p:pic>
        <p:nvPicPr>
          <p:cNvPr id="3" name="Picture 2" descr="m4_d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1095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5 - SVC Confusion Matrix</a:t>
            </a:r>
          </a:p>
        </p:txBody>
      </p:sp>
      <p:pic>
        <p:nvPicPr>
          <p:cNvPr id="3" name="Picture 2" descr="m5_sv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8852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Cross-Model ROC Analysis</a:t>
            </a:r>
          </a:p>
        </p:txBody>
      </p:sp>
      <p:pic>
        <p:nvPicPr>
          <p:cNvPr id="3" name="Picture 2" descr="comparative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5712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Deployability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Performing Model: Tuned Decision Tree / Tree-based architectures.</a:t>
            </a:r>
          </a:p>
          <a:p>
            <a:pPr/>
            <a:r>
              <a:t>Real-Time Inference: Capable of accepting localized cartographic parameters (e.g., altitude, slope) and returning probabilistic species distributions.</a:t>
            </a:r>
          </a:p>
          <a:p>
            <a:pPr/>
            <a:r>
              <a:t>Deployment Recommendation: The pipeline is optimized for spatial integration, maintaining minimal latency for geographic mapping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