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4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39"/>
  </p:normalViewPr>
  <p:slideViewPr>
    <p:cSldViewPr snapToGrid="0">
      <p:cViewPr varScale="1">
        <p:scale>
          <a:sx n="149" d="100"/>
          <a:sy n="149" d="100"/>
        </p:scale>
        <p:origin x="192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D7230E63-536F-F442-8A0C-38EB5CC41C5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8635820F-4E89-8340-B4CC-BA265614B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11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30E63-536F-F442-8A0C-38EB5CC41C5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5820F-4E89-8340-B4CC-BA265614B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4646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D666FC17-48E9-4EB3-BB0E-C81F4FBF1D65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493522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D7230E63-536F-F442-8A0C-38EB5CC41C5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635820F-4E89-8340-B4CC-BA265614B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2447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B28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205D05A-BA39-4B06-B20A-BF32BF994A68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F8DDA4-3B80-4E8A-A8F5-521F73BF9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5988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D7230E63-536F-F442-8A0C-38EB5CC41C5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8635820F-4E89-8340-B4CC-BA265614B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8256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D7230E63-536F-F442-8A0C-38EB5CC41C5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8635820F-4E89-8340-B4CC-BA265614BA9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672897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30E63-536F-F442-8A0C-38EB5CC41C5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5820F-4E89-8340-B4CC-BA265614B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0025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D7230E63-536F-F442-8A0C-38EB5CC41C5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5820F-4E89-8340-B4CC-BA265614B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4338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D7230E63-536F-F442-8A0C-38EB5CC41C5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5820F-4E89-8340-B4CC-BA265614B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518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30E63-536F-F442-8A0C-38EB5CC41C5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5820F-4E89-8340-B4CC-BA265614B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D7230E63-536F-F442-8A0C-38EB5CC41C5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8635820F-4E89-8340-B4CC-BA265614B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4768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D7230E63-536F-F442-8A0C-38EB5CC41C5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8635820F-4E89-8340-B4CC-BA265614B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722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D7230E63-536F-F442-8A0C-38EB5CC41C5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635820F-4E89-8340-B4CC-BA265614B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2892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>
              <a:gd name="connsiteX0" fmla="*/ 48006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5562599 h 6858000"/>
              <a:gd name="connsiteX5" fmla="*/ 4800600 w 12192000"/>
              <a:gd name="connsiteY5" fmla="*/ 55625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D7230E63-536F-F442-8A0C-38EB5CC41C5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8635820F-4E89-8340-B4CC-BA265614B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9389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D7230E63-536F-F442-8A0C-38EB5CC41C5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8635820F-4E89-8340-B4CC-BA265614B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155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30E63-536F-F442-8A0C-38EB5CC41C5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5820F-4E89-8340-B4CC-BA265614BA98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36025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D7230E63-536F-F442-8A0C-38EB5CC41C5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5820F-4E89-8340-B4CC-BA265614B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835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230E63-536F-F442-8A0C-38EB5CC41C5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635820F-4E89-8340-B4CC-BA265614BA9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401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230E63-536F-F442-8A0C-38EB5CC41C5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35820F-4E89-8340-B4CC-BA265614B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7674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D7230E63-536F-F442-8A0C-38EB5CC41C5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8635820F-4E89-8340-B4CC-BA265614B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2313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30E63-536F-F442-8A0C-38EB5CC41C5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5820F-4E89-8340-B4CC-BA265614B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626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30E63-536F-F442-8A0C-38EB5CC41C5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5820F-4E89-8340-B4CC-BA265614B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1474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30E63-536F-F442-8A0C-38EB5CC41C5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5820F-4E89-8340-B4CC-BA265614B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6859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30E63-536F-F442-8A0C-38EB5CC41C5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5820F-4E89-8340-B4CC-BA265614B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0964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D7230E63-536F-F442-8A0C-38EB5CC41C5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8635820F-4E89-8340-B4CC-BA265614B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1243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D7230E63-536F-F442-8A0C-38EB5CC41C5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635820F-4E89-8340-B4CC-BA265614B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6808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D7230E63-536F-F442-8A0C-38EB5CC41C5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8635820F-4E89-8340-B4CC-BA265614B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373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7" r:id="rId1"/>
    <p:sldLayoutId id="2147484468" r:id="rId2"/>
    <p:sldLayoutId id="2147484469" r:id="rId3"/>
    <p:sldLayoutId id="2147484470" r:id="rId4"/>
    <p:sldLayoutId id="2147484471" r:id="rId5"/>
    <p:sldLayoutId id="2147484472" r:id="rId6"/>
    <p:sldLayoutId id="2147484473" r:id="rId7"/>
    <p:sldLayoutId id="2147484474" r:id="rId8"/>
    <p:sldLayoutId id="2147484475" r:id="rId9"/>
    <p:sldLayoutId id="2147484476" r:id="rId10"/>
    <p:sldLayoutId id="2147484477" r:id="rId11"/>
    <p:sldLayoutId id="2147484478" r:id="rId12"/>
    <p:sldLayoutId id="2147484479" r:id="rId13"/>
    <p:sldLayoutId id="2147484480" r:id="rId14"/>
    <p:sldLayoutId id="2147484481" r:id="rId15"/>
    <p:sldLayoutId id="2147484482" r:id="rId16"/>
    <p:sldLayoutId id="2147484483" r:id="rId17"/>
    <p:sldLayoutId id="2147484484" r:id="rId18"/>
    <p:sldLayoutId id="2147484485" r:id="rId19"/>
    <p:sldLayoutId id="2147484486" r:id="rId20"/>
    <p:sldLayoutId id="2147484487" r:id="rId21"/>
    <p:sldLayoutId id="2147484488" r:id="rId22"/>
    <p:sldLayoutId id="2147484489" r:id="rId23"/>
    <p:sldLayoutId id="2147484490" r:id="rId24"/>
    <p:sldLayoutId id="2147484491" r:id="rId25"/>
    <p:sldLayoutId id="2147484492" r:id="rId26"/>
    <p:sldLayoutId id="2147484493" r:id="rId27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0525B-E6DD-6D1B-F931-CACF5377D4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NYC Taxi Time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358460-96A8-0444-3975-0214014D34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Learning Pipeline Review </a:t>
            </a:r>
          </a:p>
          <a:p>
            <a:r>
              <a:rPr lang="en-US" dirty="0"/>
              <a:t>23CSE301</a:t>
            </a:r>
          </a:p>
        </p:txBody>
      </p:sp>
    </p:spTree>
    <p:extLst>
      <p:ext uri="{BB962C8B-B14F-4D97-AF65-F5344CB8AC3E}">
        <p14:creationId xmlns:p14="http://schemas.microsoft.com/office/powerpoint/2010/main" val="12476048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20F85-7171-BDEC-2696-75E21E48A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/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F3B55-EC78-3F43-53E8-F2601D908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b="1" dirty="0"/>
              <a:t>Objective: End-to-End machine learning pipeline to predict how many seconds a NYC Cab trip will last.</a:t>
            </a:r>
          </a:p>
          <a:p>
            <a:pPr algn="just"/>
            <a:r>
              <a:rPr lang="en-US" sz="3200" b="1" dirty="0"/>
              <a:t>Target Variable: Time Taken in seconds</a:t>
            </a:r>
          </a:p>
        </p:txBody>
      </p:sp>
    </p:spTree>
    <p:extLst>
      <p:ext uri="{BB962C8B-B14F-4D97-AF65-F5344CB8AC3E}">
        <p14:creationId xmlns:p14="http://schemas.microsoft.com/office/powerpoint/2010/main" val="13062120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D0905-1446-E29B-8113-27547966F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Dataset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4C4D3-3F02-67B3-0943-E4CCF1037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b="1" dirty="0"/>
              <a:t>Volume : Around 300K records of various NYC Cab data spanning over six months.</a:t>
            </a:r>
          </a:p>
          <a:p>
            <a:pPr algn="just"/>
            <a:r>
              <a:rPr lang="en-US" sz="2400" b="1" dirty="0"/>
              <a:t>Features: 10 raw features present in the dataset and one target variable, </a:t>
            </a:r>
            <a:r>
              <a:rPr lang="en-US" sz="2400" b="1" i="1" dirty="0" err="1"/>
              <a:t>trip_duration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0025118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A7380-CE5E-4F99-1010-9646BDF50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Motivation and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650D4-5716-5D1F-4F63-CCEF8C524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sz="1600" b="1" dirty="0"/>
              <a:t>Operational ETA</a:t>
            </a:r>
            <a:r>
              <a:rPr lang="en-US" sz="1600" dirty="0"/>
              <a:t>: Estimate yellow-cab trip duration </a:t>
            </a:r>
            <a:r>
              <a:rPr lang="en-US" sz="1600" i="1" dirty="0"/>
              <a:t>before</a:t>
            </a:r>
            <a:r>
              <a:rPr lang="en-US" sz="1600" dirty="0"/>
              <a:t> the ride ends, using only pickup-time information (time, GPS, passengers, vendor). Dispatch and rider ETAs cannot wait for </a:t>
            </a:r>
            <a:r>
              <a:rPr lang="en-US" sz="1600" dirty="0" err="1"/>
              <a:t>dropoff_datetime</a:t>
            </a:r>
            <a:r>
              <a:rPr lang="en-US" sz="1600" dirty="0"/>
              <a:t>.</a:t>
            </a:r>
          </a:p>
          <a:p>
            <a:pPr lvl="0" algn="just"/>
            <a:r>
              <a:rPr lang="en-US" sz="1600" b="1" dirty="0"/>
              <a:t>Congestion</a:t>
            </a:r>
            <a:r>
              <a:rPr lang="en-US" sz="1600" dirty="0"/>
              <a:t>: Two trips of the same </a:t>
            </a:r>
            <a:r>
              <a:rPr lang="en-US" sz="1600" dirty="0" err="1"/>
              <a:t>kilometres</a:t>
            </a:r>
            <a:r>
              <a:rPr lang="en-US" sz="1600" dirty="0"/>
              <a:t> can differ by several minutes at rush hour. The notebook adds haversine/Manhattan distance, bearing, and calendar flags so models can learn that pattern.</a:t>
            </a:r>
          </a:p>
          <a:p>
            <a:pPr lvl="0" algn="just"/>
            <a:r>
              <a:rPr lang="en-US" sz="1600" b="1" dirty="0"/>
              <a:t>Data integrity</a:t>
            </a:r>
            <a:r>
              <a:rPr lang="en-US" sz="1600" dirty="0"/>
              <a:t>: Drop </a:t>
            </a:r>
            <a:r>
              <a:rPr lang="en-US" sz="1600" dirty="0" err="1"/>
              <a:t>dropoff_datetime</a:t>
            </a:r>
            <a:r>
              <a:rPr lang="en-US" sz="1600" dirty="0"/>
              <a:t> (target leakage) and id. Fit the scaler/encoder on the training split only. Score every algorithm on the same held-out trips.</a:t>
            </a:r>
          </a:p>
          <a:p>
            <a:pPr lvl="0" algn="just"/>
            <a:r>
              <a:rPr lang="en-US" sz="1600" b="1" dirty="0"/>
              <a:t>Fair model comparison</a:t>
            </a:r>
            <a:r>
              <a:rPr lang="en-US" sz="1600" dirty="0"/>
              <a:t>: Train all ten required regressors on one preprocessed table and report R², RMSE, MAE, and 5-fold CV R² against a mean baseline.</a:t>
            </a:r>
          </a:p>
          <a:p>
            <a:pPr lvl="0" algn="just"/>
            <a:r>
              <a:rPr lang="en-US" sz="1600" b="1" dirty="0"/>
              <a:t>Interpretability</a:t>
            </a:r>
            <a:r>
              <a:rPr lang="en-US" sz="1600" dirty="0"/>
              <a:t>: Linear coefficients, tree splits, and feature importances show </a:t>
            </a:r>
            <a:r>
              <a:rPr lang="en-US" sz="1600" i="1" dirty="0"/>
              <a:t>why</a:t>
            </a:r>
            <a:r>
              <a:rPr lang="en-US" sz="1600" dirty="0"/>
              <a:t> a trip is predicted as long or short, not only the score.</a:t>
            </a:r>
          </a:p>
        </p:txBody>
      </p:sp>
    </p:spTree>
    <p:extLst>
      <p:ext uri="{BB962C8B-B14F-4D97-AF65-F5344CB8AC3E}">
        <p14:creationId xmlns:p14="http://schemas.microsoft.com/office/powerpoint/2010/main" val="9134792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81CD9-B3DE-5A12-7A3E-EFB50103A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Approach: Preparation &amp;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2C0D5-04A1-31AD-264C-3A5E62848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sz="1800" b="1" dirty="0"/>
              <a:t>Data cleansing: </a:t>
            </a:r>
            <a:r>
              <a:rPr lang="en-US" sz="1800" dirty="0"/>
              <a:t>Drop exact duplicates, drop id, and drop </a:t>
            </a:r>
            <a:r>
              <a:rPr lang="en-US" sz="1800" dirty="0" err="1"/>
              <a:t>dropoff_datetime</a:t>
            </a:r>
            <a:r>
              <a:rPr lang="en-US" sz="1800" dirty="0"/>
              <a:t> so duration cannot leak into the features.</a:t>
            </a:r>
          </a:p>
          <a:p>
            <a:pPr lvl="0" algn="just"/>
            <a:r>
              <a:rPr lang="en-US" sz="1800" b="1" dirty="0"/>
              <a:t>Domain filters</a:t>
            </a:r>
            <a:r>
              <a:rPr lang="en-US" sz="1800" dirty="0"/>
              <a:t>: Keep trips inside the NYC GPS box, passengers 1–6, and duration 60–7,200 s. No IQR wipe of long airport runs.</a:t>
            </a:r>
          </a:p>
          <a:p>
            <a:pPr lvl="0" algn="just"/>
            <a:r>
              <a:rPr lang="en-US" sz="1800" b="1" dirty="0"/>
              <a:t>Pickup-only engineering</a:t>
            </a:r>
            <a:r>
              <a:rPr lang="en-US" sz="1800" dirty="0"/>
              <a:t>: New columns use information known at pickup.</a:t>
            </a:r>
          </a:p>
          <a:p>
            <a:pPr lvl="1" algn="just"/>
            <a:r>
              <a:rPr lang="en-US" sz="1800" dirty="0"/>
              <a:t>Haversine and Manhattan distances (physical length of the trip).</a:t>
            </a:r>
          </a:p>
          <a:p>
            <a:pPr lvl="1" algn="just"/>
            <a:r>
              <a:rPr lang="en-US" sz="1800" dirty="0"/>
              <a:t>Bearing (direction: airports vs downtown).</a:t>
            </a:r>
          </a:p>
          <a:p>
            <a:pPr lvl="1" algn="just"/>
            <a:r>
              <a:rPr lang="en-US" sz="1800" dirty="0"/>
              <a:t>Hour, day of week, month, weekend, and rush-hour flags</a:t>
            </a:r>
          </a:p>
          <a:p>
            <a:pPr algn="just"/>
            <a:r>
              <a:rPr lang="en-US" sz="1800" dirty="0"/>
              <a:t>After this step the table is 349,080 rows. Distance correlates ~0.7+ with duration; that is the signal the ten models train on.</a:t>
            </a:r>
          </a:p>
          <a:p>
            <a:pPr marL="0" indent="0" algn="just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658603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5444B-A1EB-A2A1-EA04-B48B5EE82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Approach: Preprocessor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5BCC6-4F5B-C666-5A25-228709AAF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sz="1800" b="1" dirty="0"/>
              <a:t>Partitioning: </a:t>
            </a:r>
            <a:r>
              <a:rPr lang="en-US" sz="1800" dirty="0"/>
              <a:t>80/20 split (</a:t>
            </a:r>
            <a:r>
              <a:rPr lang="en-US" sz="1800" dirty="0" err="1"/>
              <a:t>random_state</a:t>
            </a:r>
            <a:r>
              <a:rPr lang="en-US" sz="1800" dirty="0"/>
              <a:t>=42). Duration is cut into 10 quantile bins and used to stratify, so long trips appear in both train and test.</a:t>
            </a:r>
          </a:p>
          <a:p>
            <a:pPr lvl="0" algn="just"/>
            <a:r>
              <a:rPr lang="en-US" sz="1800" b="1" dirty="0" err="1"/>
              <a:t>ColumnTransformer</a:t>
            </a:r>
            <a:r>
              <a:rPr lang="en-US" sz="1800" b="1" dirty="0"/>
              <a:t>: </a:t>
            </a:r>
          </a:p>
          <a:p>
            <a:pPr lvl="1" algn="just"/>
            <a:r>
              <a:rPr lang="en-US" sz="1800" dirty="0" err="1"/>
              <a:t>StandardScaler</a:t>
            </a:r>
            <a:r>
              <a:rPr lang="en-US" sz="1800" dirty="0"/>
              <a:t> on the 13 numeric columns (fit on train only).</a:t>
            </a:r>
          </a:p>
          <a:p>
            <a:pPr lvl="1" algn="just"/>
            <a:r>
              <a:rPr lang="en-US" sz="1800" dirty="0"/>
              <a:t>One-hot encoding of </a:t>
            </a:r>
            <a:r>
              <a:rPr lang="en-US" sz="1800" dirty="0" err="1"/>
              <a:t>vendor_id</a:t>
            </a:r>
            <a:r>
              <a:rPr lang="en-US" sz="1800" dirty="0"/>
              <a:t> and </a:t>
            </a:r>
            <a:r>
              <a:rPr lang="en-US" sz="1800" dirty="0" err="1"/>
              <a:t>store_and_fwd_flag</a:t>
            </a:r>
            <a:r>
              <a:rPr lang="en-US" sz="1800" dirty="0"/>
              <a:t> (names, not ordered numbers).</a:t>
            </a:r>
          </a:p>
          <a:p>
            <a:pPr lvl="0" algn="just"/>
            <a:r>
              <a:rPr lang="en-US" sz="1800" b="1" dirty="0"/>
              <a:t>Shared matrix: </a:t>
            </a:r>
            <a:r>
              <a:rPr lang="en-US" sz="1800" dirty="0"/>
              <a:t>The same 17-column processed arrays go to all ten models. Trees do not need scaling; SVR and KNN do scaling once keeps the comparison fair.</a:t>
            </a:r>
          </a:p>
          <a:p>
            <a:pPr lvl="0" algn="just"/>
            <a:r>
              <a:rPr lang="en-US" sz="1800" b="1" dirty="0"/>
              <a:t>Shared test cap</a:t>
            </a:r>
            <a:r>
              <a:rPr lang="en-US" sz="1800" dirty="0"/>
              <a:t>: Every model is scored on the same 50,000-row evaluation slice so SVR/KNN prediction stays tractable.</a:t>
            </a:r>
          </a:p>
          <a:p>
            <a:pPr algn="just"/>
            <a:r>
              <a:rPr lang="en-US" sz="1800" b="1" dirty="0"/>
              <a:t>Train shape after this step</a:t>
            </a:r>
            <a:r>
              <a:rPr lang="en-US" sz="1800" dirty="0"/>
              <a:t>: 279,264 × 17. Test scored: 50,000 × 17.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7655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C918A-B412-1FAE-E256-553E7F40D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Approach: Predictive Modeling Suite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5D638-F9EF-5FD5-B73C-B1CD9D6B2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 algn="just"/>
            <a:r>
              <a:rPr lang="en-US" sz="1600" dirty="0"/>
              <a:t>Evaluated ten required algorithms on the same preprocessed table and the same 50k test trips.</a:t>
            </a:r>
          </a:p>
          <a:p>
            <a:pPr lvl="1" algn="just"/>
            <a:r>
              <a:rPr lang="en-US" sz="1600" b="1" dirty="0"/>
              <a:t>Linear Regression</a:t>
            </a:r>
            <a:r>
              <a:rPr lang="en-US" sz="1600" dirty="0"/>
              <a:t>: Unregularized parametric baseline; scaled coefficients show direction of each feature.</a:t>
            </a:r>
          </a:p>
          <a:p>
            <a:pPr lvl="1" algn="just"/>
            <a:r>
              <a:rPr lang="en-US" sz="1600" b="1" dirty="0"/>
              <a:t>Ridge:</a:t>
            </a:r>
            <a:r>
              <a:rPr lang="en-US" sz="1600" dirty="0"/>
              <a:t> L2 shrinkage for collinear haversine and Manhattan distances.</a:t>
            </a:r>
          </a:p>
          <a:p>
            <a:pPr lvl="1" algn="just"/>
            <a:r>
              <a:rPr lang="en-US" sz="1600" b="1" dirty="0"/>
              <a:t>Lasso</a:t>
            </a:r>
            <a:r>
              <a:rPr lang="en-US" sz="1600" dirty="0"/>
              <a:t>: L1 sparsity; some weights go exactly to zero.</a:t>
            </a:r>
          </a:p>
          <a:p>
            <a:pPr lvl="1" algn="just"/>
            <a:r>
              <a:rPr lang="en-US" sz="1600" b="1" dirty="0" err="1"/>
              <a:t>ElasticNet</a:t>
            </a:r>
            <a:r>
              <a:rPr lang="en-US" sz="1600" dirty="0"/>
              <a:t>: Mix of L1 and L2 (l1_ratio=0.5).</a:t>
            </a:r>
          </a:p>
          <a:p>
            <a:pPr lvl="1" algn="just"/>
            <a:r>
              <a:rPr lang="en-US" sz="1600" b="1" dirty="0"/>
              <a:t>Polynomial</a:t>
            </a:r>
            <a:r>
              <a:rPr lang="en-US" sz="1600" dirty="0"/>
              <a:t> </a:t>
            </a:r>
            <a:r>
              <a:rPr lang="en-US" sz="1600" b="1" dirty="0"/>
              <a:t>Regression</a:t>
            </a:r>
            <a:r>
              <a:rPr lang="en-US" sz="1600" dirty="0"/>
              <a:t>: Degree 1 vs 2, then linear — lets distance interact with hour.</a:t>
            </a:r>
          </a:p>
          <a:p>
            <a:pPr lvl="1" algn="just"/>
            <a:r>
              <a:rPr lang="en-US" sz="1600" b="1" dirty="0"/>
              <a:t>Decision Tree</a:t>
            </a:r>
            <a:r>
              <a:rPr lang="en-US" sz="1600" dirty="0"/>
              <a:t>: Depth-capped splits plus feature importance.</a:t>
            </a:r>
          </a:p>
          <a:p>
            <a:pPr lvl="1" algn="just"/>
            <a:r>
              <a:rPr lang="en-US" sz="1600" b="1" dirty="0"/>
              <a:t>Random Forest</a:t>
            </a:r>
            <a:r>
              <a:rPr lang="en-US" sz="1600" dirty="0"/>
              <a:t>: Bagged trees; later tuned with </a:t>
            </a:r>
            <a:r>
              <a:rPr lang="en-US" sz="1600" dirty="0" err="1"/>
              <a:t>RandomizedSearch</a:t>
            </a:r>
            <a:r>
              <a:rPr lang="en-US" sz="1600" dirty="0"/>
              <a:t>.</a:t>
            </a:r>
          </a:p>
          <a:p>
            <a:pPr lvl="1" algn="just"/>
            <a:r>
              <a:rPr lang="en-US" sz="1600" b="1" dirty="0"/>
              <a:t>Gradient Boosting</a:t>
            </a:r>
            <a:r>
              <a:rPr lang="en-US" sz="1600" dirty="0"/>
              <a:t>: </a:t>
            </a:r>
            <a:r>
              <a:rPr lang="en-US" sz="1600" dirty="0" err="1"/>
              <a:t>HistGradientBoostingRegressor</a:t>
            </a:r>
            <a:r>
              <a:rPr lang="en-US" sz="1600" dirty="0"/>
              <a:t> (same family, runnable at this scale).</a:t>
            </a:r>
          </a:p>
          <a:p>
            <a:pPr lvl="1" algn="just"/>
            <a:r>
              <a:rPr lang="en-US" sz="1600" b="1" dirty="0"/>
              <a:t>SVR</a:t>
            </a:r>
            <a:r>
              <a:rPr lang="en-US" sz="1600" dirty="0"/>
              <a:t>: RBF kernel with a scaled target; trained on 12k rows.</a:t>
            </a:r>
          </a:p>
          <a:p>
            <a:pPr lvl="1" algn="just"/>
            <a:r>
              <a:rPr lang="en-US" sz="1600" b="1" dirty="0"/>
              <a:t>KNN</a:t>
            </a:r>
            <a:r>
              <a:rPr lang="en-US" sz="1600" dirty="0"/>
              <a:t>: Distance-weighted </a:t>
            </a:r>
            <a:r>
              <a:rPr lang="en-US" sz="1600" dirty="0" err="1"/>
              <a:t>neighbours</a:t>
            </a:r>
            <a:r>
              <a:rPr lang="en-US" sz="1600" dirty="0"/>
              <a:t> (k=15); trained on 40k rows.</a:t>
            </a:r>
          </a:p>
          <a:p>
            <a:pPr lvl="0" algn="just"/>
            <a:r>
              <a:rPr lang="en-US" sz="1600" dirty="0"/>
              <a:t>Mean baseline is stored first (always predict the training average) so every model must beat </a:t>
            </a:r>
            <a:r>
              <a:rPr lang="en-US" sz="1600" b="1" dirty="0"/>
              <a:t>R² ≈ 0.</a:t>
            </a:r>
          </a:p>
        </p:txBody>
      </p:sp>
    </p:spTree>
    <p:extLst>
      <p:ext uri="{BB962C8B-B14F-4D97-AF65-F5344CB8AC3E}">
        <p14:creationId xmlns:p14="http://schemas.microsoft.com/office/powerpoint/2010/main" val="9030835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7C6B3-2BF8-DF03-AAB4-F90CCC35B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Results: Evaluation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48906-D581-625C-E21B-CA9589F99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sz="1800" b="1" dirty="0"/>
              <a:t>Primary metrics</a:t>
            </a:r>
            <a:r>
              <a:rPr lang="en-US" sz="1800" dirty="0"/>
              <a:t>: Test R², RMSE, and MAE (seconds). 5-fold CV R² on the training split for stability.</a:t>
            </a:r>
          </a:p>
          <a:p>
            <a:pPr lvl="0" algn="just"/>
            <a:r>
              <a:rPr lang="en-US" sz="1800" b="1" dirty="0"/>
              <a:t>Rationale</a:t>
            </a:r>
            <a:r>
              <a:rPr lang="en-US" sz="1800" dirty="0"/>
              <a:t>: R² ranks models against a mean baseline (R² ≈ 0). RMSE/MAE stay in seconds so “off by ~5 minutes” is easy to say. Macro-style class metrics do not apply here — the target is continuous.</a:t>
            </a:r>
          </a:p>
          <a:p>
            <a:pPr lvl="0" algn="just"/>
            <a:r>
              <a:rPr lang="en-US" sz="1800" b="1" dirty="0"/>
              <a:t>Protocol</a:t>
            </a:r>
            <a:r>
              <a:rPr lang="en-US" sz="1800" dirty="0"/>
              <a:t>: Same preprocessed matrix, same 50k test trips, </a:t>
            </a:r>
            <a:r>
              <a:rPr lang="en-US" sz="1800" dirty="0" err="1"/>
              <a:t>random_state</a:t>
            </a:r>
            <a:r>
              <a:rPr lang="en-US" sz="1800" dirty="0"/>
              <a:t>=42. Train rows is reported so SVR (12k) and KNN (40k) are not compared as if they saw the full split.</a:t>
            </a:r>
          </a:p>
          <a:p>
            <a:pPr lvl="0" algn="just"/>
            <a:r>
              <a:rPr lang="en-US" sz="1800" b="1" dirty="0"/>
              <a:t>Key finding 1</a:t>
            </a:r>
            <a:r>
              <a:rPr lang="en-US" sz="1800" dirty="0"/>
              <a:t>: Haversine distance is the dominant driver (correlation 0.77 with duration after cleaning).</a:t>
            </a:r>
          </a:p>
          <a:p>
            <a:pPr lvl="0" algn="just"/>
            <a:r>
              <a:rPr lang="en-US" sz="1800" b="1" dirty="0"/>
              <a:t>Key finding 2</a:t>
            </a:r>
            <a:r>
              <a:rPr lang="en-US" sz="1800" dirty="0"/>
              <a:t>: Tree ensembles beat linear models on the non-linear congestion pattern. Gradient Boosting leads (R² 0.80, RMSE 292 s ≈ 4.9 min); Random Forest is close (R² 0.79). Linear / Ridge sit at R² 0.62.</a:t>
            </a:r>
          </a:p>
          <a:p>
            <a:pPr algn="just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540087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579AE-8978-091C-D4C8-4BEBD583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Results: Model 1 – Linear Regression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E79F412-83DC-7323-8B8D-E5CFEE2572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7100" y="1591291"/>
            <a:ext cx="6112908" cy="41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5736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7FAC-3B5B-43C7-BDF7-CF343BFEC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Results: model 2 – ridge regression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4382CA9-8C62-3C2F-694E-56290A07D3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6769" y="1975644"/>
            <a:ext cx="5473700" cy="372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8482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15A83-1F0A-B3C8-8A39-479DD0FFC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Results: model 3 – lasso regression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6347C87-4582-5C6D-AF3E-CC1F1B9ECF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6769" y="1975644"/>
            <a:ext cx="5473700" cy="372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1869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AC663-D0F1-0FFE-FD44-6697E1CE7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Results: model 4 – </a:t>
            </a:r>
            <a:r>
              <a:rPr lang="en-US" dirty="0" err="1"/>
              <a:t>elasticnet</a:t>
            </a:r>
            <a:r>
              <a:rPr lang="en-US" dirty="0"/>
              <a:t> regression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8477D48-96B1-21A6-5E18-056FF20140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6769" y="1975644"/>
            <a:ext cx="5473700" cy="372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1213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BC6CC-CEDB-0408-8CD7-07AA34D56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Results: model 5 – polynomial regression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F949639-F973-0501-52D6-F4FB9C0D64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6769" y="1975644"/>
            <a:ext cx="5473700" cy="372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2457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8870C-5FDF-9101-CFB0-AF68A910B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Results: model 6 – decision tree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E7C81D2-5624-15B1-626A-A2539B1E99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6769" y="1975644"/>
            <a:ext cx="5473700" cy="372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8468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1848E-3857-9FD8-B7C4-7007188DF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Results: model 7 – random forest regressor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AB1FF4C-565A-823E-ACFE-3D882C0B05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6769" y="1975644"/>
            <a:ext cx="5473700" cy="372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3848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6AB4A-7122-5172-6AFE-2817AD60A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Results: model 8 – gradient boosting regressor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3DB3B32-19BF-00B0-32CE-A3101852DF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6769" y="1975644"/>
            <a:ext cx="5473700" cy="372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0641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FC8A0-ED2A-D145-1D6E-30263AEBD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Results: model 9 – support vector regressor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35E6D95-8667-C8C5-1CAA-95A3B89DDA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6769" y="1975644"/>
            <a:ext cx="5473700" cy="372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8007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A3124-9044-E755-5538-3276591A3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Results: model 10 – K Nearest neighbors Regressor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C8BAD7C-F6DA-0F71-225B-C17F53D0C4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6769" y="1975644"/>
            <a:ext cx="5473700" cy="372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6253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F064C-5EB6-926E-F478-F74110BB7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Results: model performance summary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F03F605-5823-2008-A535-250EBAE173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8269" y="1975644"/>
            <a:ext cx="6870700" cy="372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2179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D4D94-E3E1-0BBE-3D41-08499876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Conclusion &amp; </a:t>
            </a:r>
            <a:r>
              <a:rPr lang="en-US" dirty="0" err="1"/>
              <a:t>Deployability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E7449-3EB9-C842-59FE-87C63DDB0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1800" b="1" dirty="0"/>
              <a:t>Best model</a:t>
            </a:r>
            <a:r>
              <a:rPr lang="en-US" sz="1800" dirty="0"/>
              <a:t>: Gradient Boosting (R² ≈ 0.80, RMSE ≈ 5 min). Random Forest is close.</a:t>
            </a:r>
          </a:p>
          <a:p>
            <a:pPr algn="just"/>
            <a:r>
              <a:rPr lang="en-US" sz="1800" b="1" dirty="0"/>
              <a:t>Main signal</a:t>
            </a:r>
            <a:r>
              <a:rPr lang="en-US" sz="1800" dirty="0"/>
              <a:t>: trip distance; rush hour adds the congestion gap.</a:t>
            </a:r>
          </a:p>
          <a:p>
            <a:pPr algn="just"/>
            <a:r>
              <a:rPr lang="en-US" sz="1800" b="1" dirty="0"/>
              <a:t>Deploy</a:t>
            </a:r>
            <a:r>
              <a:rPr lang="en-US" sz="1800" dirty="0"/>
              <a:t>: use pickup-only features (no </a:t>
            </a:r>
            <a:r>
              <a:rPr lang="en-US" sz="1800" dirty="0" err="1"/>
              <a:t>dropoff_datetime</a:t>
            </a:r>
            <a:r>
              <a:rPr lang="en-US" sz="1800" dirty="0"/>
              <a:t>); return seconds at request time.</a:t>
            </a:r>
          </a:p>
          <a:p>
            <a:pPr algn="just"/>
            <a:r>
              <a:rPr lang="en-US" sz="1800" b="1" dirty="0"/>
              <a:t>Ship with</a:t>
            </a:r>
            <a:r>
              <a:rPr lang="en-US" sz="1800" dirty="0"/>
              <a:t>: train-only scaling, NYC GPS / duration filters, and GBM or Forest — not SVR/KNN on full data.</a:t>
            </a:r>
          </a:p>
        </p:txBody>
      </p:sp>
    </p:spTree>
    <p:extLst>
      <p:ext uri="{BB962C8B-B14F-4D97-AF65-F5344CB8AC3E}">
        <p14:creationId xmlns:p14="http://schemas.microsoft.com/office/powerpoint/2010/main" val="37765312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Custom 40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9BAA8FFB-1EEF-49AC-B7FF-0F37799585E9}" vid="{6523F788-A6E6-47B0-B3C7-625411BE5A1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Orange Experience</Template>
  <TotalTime>45</TotalTime>
  <Words>1011</Words>
  <Application>Microsoft Macintosh PowerPoint</Application>
  <PresentationFormat>Widescreen</PresentationFormat>
  <Paragraphs>66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Oswald SemiBold</vt:lpstr>
      <vt:lpstr>Univers Condensed Light</vt:lpstr>
      <vt:lpstr>Orange Experience</vt:lpstr>
      <vt:lpstr>NYC Taxi Time Prediction</vt:lpstr>
      <vt:lpstr>Introduction</vt:lpstr>
      <vt:lpstr>Dataset Characteristics</vt:lpstr>
      <vt:lpstr>Motivation and objectives</vt:lpstr>
      <vt:lpstr>Approach: Preparation &amp; Engineering</vt:lpstr>
      <vt:lpstr>Approach: Preprocessor Architecture</vt:lpstr>
      <vt:lpstr>Approach: Predictive Modeling Suite</vt:lpstr>
      <vt:lpstr>Results: Evaluation Framework</vt:lpstr>
      <vt:lpstr>Results: Model 1 – Linear Regression</vt:lpstr>
      <vt:lpstr>Results: model 2 – ridge regression</vt:lpstr>
      <vt:lpstr>Results: model 3 – lasso regression</vt:lpstr>
      <vt:lpstr>Results: model 4 – elasticnet regression</vt:lpstr>
      <vt:lpstr>Results: model 5 – polynomial regression</vt:lpstr>
      <vt:lpstr>Results: model 6 – decision tree</vt:lpstr>
      <vt:lpstr>Results: model 7 – random forest regressor</vt:lpstr>
      <vt:lpstr>Results: model 8 – gradient boosting regressor</vt:lpstr>
      <vt:lpstr>Results: model 9 – support vector regressor</vt:lpstr>
      <vt:lpstr>Results: model 10 – K Nearest neighbors Regressor</vt:lpstr>
      <vt:lpstr>Results: model performance summary</vt:lpstr>
      <vt:lpstr>Conclusion &amp; Deployability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Sanjith S J</dc:creator>
  <cp:lastModifiedBy>Sanjith S J</cp:lastModifiedBy>
  <cp:revision>2</cp:revision>
  <dcterms:created xsi:type="dcterms:W3CDTF">2026-09-18T07:05:31Z</dcterms:created>
  <dcterms:modified xsi:type="dcterms:W3CDTF">2026-09-18T07:51:02Z</dcterms:modified>
</cp:coreProperties>
</file>