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10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1033272"/>
            <a:ext cx="4419055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1" y="5733288"/>
            <a:ext cx="4419053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8364" y="793818"/>
            <a:ext cx="3945636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03940" y="207982"/>
            <a:ext cx="1997099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5197367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1" y="5420250"/>
            <a:ext cx="51973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796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612648"/>
            <a:ext cx="8440251" cy="1106424"/>
          </a:xfrm>
        </p:spPr>
        <p:txBody>
          <a:bodyPr/>
          <a:lstStyle>
            <a:lvl1pPr>
              <a:defRPr sz="49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9" y="2139696"/>
            <a:ext cx="8440251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91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5223554"/>
            <a:ext cx="85725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" y="6083090"/>
            <a:ext cx="85724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914171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778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758952"/>
            <a:ext cx="569214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" y="5404104"/>
            <a:ext cx="8636458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6254496"/>
            <a:ext cx="2222769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306" y="6254496"/>
            <a:ext cx="125973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6254496"/>
            <a:ext cx="409835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640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" y="1435608"/>
            <a:ext cx="8695944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019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8" y="886968"/>
            <a:ext cx="8553958" cy="1170432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661" y="2832653"/>
            <a:ext cx="5170289" cy="3508951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600075" indent="-257175">
              <a:buFont typeface="+mj-lt"/>
              <a:buAutoNum type="arabicPeriod"/>
              <a:defRPr sz="1350"/>
            </a:lvl2pPr>
            <a:lvl3pPr marL="942975" indent="-257175">
              <a:buFont typeface="+mj-lt"/>
              <a:buAutoNum type="arabicPeriod"/>
              <a:defRPr sz="1200"/>
            </a:lvl3pPr>
            <a:lvl4pPr marL="1285875" indent="-257175">
              <a:buFont typeface="+mj-lt"/>
              <a:buAutoNum type="arabicPeriod"/>
              <a:defRPr sz="1050"/>
            </a:lvl4pPr>
            <a:lvl5pPr marL="16287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9144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9144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173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8" y="521208"/>
            <a:ext cx="4985766" cy="1865376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68799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207" y="2651760"/>
            <a:ext cx="4745736" cy="3547872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600075" indent="-257175">
              <a:buFont typeface="+mj-lt"/>
              <a:buAutoNum type="arabicPeriod"/>
              <a:defRPr sz="1350"/>
            </a:lvl2pPr>
            <a:lvl3pPr marL="942975" indent="-257175">
              <a:buFont typeface="+mj-lt"/>
              <a:buAutoNum type="arabicPeriod"/>
              <a:defRPr sz="1200"/>
            </a:lvl3pPr>
            <a:lvl4pPr marL="1285875" indent="-257175">
              <a:buFont typeface="+mj-lt"/>
              <a:buAutoNum type="arabicPeriod"/>
              <a:defRPr sz="1050"/>
            </a:lvl4pPr>
            <a:lvl5pPr marL="16287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3924" y="21031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80133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3692937" y="2452449"/>
            <a:ext cx="545106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3692937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602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94" y="2077375"/>
            <a:ext cx="3359330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95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683" y="2210543"/>
            <a:ext cx="4401970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3683" y="207982"/>
            <a:ext cx="144098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3983954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49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94" y="1249960"/>
            <a:ext cx="3064434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95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8788" y="1249959"/>
            <a:ext cx="4830318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2890" y="207982"/>
            <a:ext cx="144098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3689060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70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157" y="749808"/>
            <a:ext cx="4831518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682746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8156" y="21348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6920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8157" y="2944369"/>
            <a:ext cx="4831519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682746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27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731" y="612648"/>
            <a:ext cx="5266944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25693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562731" y="210312"/>
            <a:ext cx="2648578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86724" y="210312"/>
            <a:ext cx="125973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730" y="1746504"/>
            <a:ext cx="5266944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25932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280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612648"/>
            <a:ext cx="526161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918713" y="207982"/>
            <a:ext cx="126187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92196" y="207982"/>
            <a:ext cx="409835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1746504"/>
            <a:ext cx="5263703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30195" y="0"/>
            <a:ext cx="331291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5826625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848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30" y="749808"/>
            <a:ext cx="4333670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031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76872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10570" y="210312"/>
            <a:ext cx="409835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1993392"/>
            <a:ext cx="4333670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1562" y="0"/>
            <a:ext cx="421243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4927972" y="1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5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749808"/>
            <a:ext cx="309276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210312"/>
            <a:ext cx="1695043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71997" y="210312"/>
            <a:ext cx="793583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07648" y="210312"/>
            <a:ext cx="33072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78" y="2578610"/>
            <a:ext cx="3097955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84494" y="0"/>
            <a:ext cx="5459506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680972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254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749808"/>
            <a:ext cx="8636066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2180556"/>
            <a:ext cx="3759266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005" y="1834524"/>
            <a:ext cx="478404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4362341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983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5166364"/>
            <a:ext cx="2742398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8572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341" y="5166364"/>
            <a:ext cx="5305332" cy="1223420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6437377"/>
            <a:ext cx="22219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4341" y="6437194"/>
            <a:ext cx="341206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6437376"/>
            <a:ext cx="409835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3212569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938" y="4842106"/>
            <a:ext cx="9144938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10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8" y="762003"/>
            <a:ext cx="4959590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970" y="2435966"/>
            <a:ext cx="5462794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51" y="762000"/>
            <a:ext cx="306961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545782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5457825" y="1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868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448056"/>
            <a:ext cx="863606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348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207982"/>
            <a:ext cx="409835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711" y="1700784"/>
            <a:ext cx="2488628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081" y="2130553"/>
            <a:ext cx="5978594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2488628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5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424" y="1188720"/>
            <a:ext cx="305181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1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6042" y="1609344"/>
            <a:ext cx="5081778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25050" dirty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0312"/>
            <a:ext cx="222199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210312"/>
            <a:ext cx="125973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210312"/>
            <a:ext cx="409835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656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1133856"/>
            <a:ext cx="798957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8330" y="914400"/>
            <a:ext cx="7534070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1pPr>
            <a:lvl2pPr marL="17145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2pPr>
            <a:lvl3pPr marL="342900" indent="0">
              <a:lnSpc>
                <a:spcPct val="10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3pPr>
            <a:lvl4pPr marL="514350" indent="0">
              <a:lnSpc>
                <a:spcPct val="100000"/>
              </a:lnSpc>
              <a:buNone/>
              <a:defRPr sz="4950" b="0">
                <a:solidFill>
                  <a:schemeClr val="tx2"/>
                </a:solidFill>
                <a:latin typeface="+mj-lt"/>
              </a:defRPr>
            </a:lvl4pPr>
            <a:lvl5pPr marL="685800" indent="0">
              <a:lnSpc>
                <a:spcPct val="100000"/>
              </a:lnSpc>
              <a:buNone/>
              <a:defRPr sz="45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6263640"/>
            <a:ext cx="2222769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052" y="6263640"/>
            <a:ext cx="144098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6263640"/>
            <a:ext cx="409835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00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924" y="5440220"/>
            <a:ext cx="6974586" cy="1015996"/>
          </a:xfrm>
        </p:spPr>
        <p:txBody>
          <a:bodyPr anchor="ctr">
            <a:normAutofit/>
          </a:bodyPr>
          <a:lstStyle>
            <a:lvl1pPr>
              <a:defRPr sz="15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0030" y="1170817"/>
            <a:ext cx="7269480" cy="3872159"/>
          </a:xfrm>
        </p:spPr>
        <p:txBody>
          <a:bodyPr>
            <a:normAutofit/>
          </a:bodyPr>
          <a:lstStyle>
            <a:lvl1pPr marL="205740" indent="-205740">
              <a:lnSpc>
                <a:spcPct val="70000"/>
              </a:lnSpc>
              <a:buNone/>
              <a:defRPr sz="6600" cap="all" baseline="0">
                <a:solidFill>
                  <a:schemeClr val="tx2"/>
                </a:solidFill>
                <a:latin typeface="+mj-lt"/>
              </a:defRPr>
            </a:lvl1pPr>
            <a:lvl2pPr marL="205740" indent="-205740">
              <a:lnSpc>
                <a:spcPct val="70000"/>
              </a:lnSpc>
              <a:buNone/>
              <a:defRPr sz="6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05740" indent="-205740">
              <a:lnSpc>
                <a:spcPct val="70000"/>
              </a:lnSpc>
              <a:buNone/>
              <a:defRPr sz="54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05740" indent="-205740">
              <a:lnSpc>
                <a:spcPct val="70000"/>
              </a:lnSpc>
              <a:buNone/>
              <a:defRPr sz="495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05740" indent="-205740">
              <a:lnSpc>
                <a:spcPct val="70000"/>
              </a:lnSpc>
              <a:buNone/>
              <a:defRPr sz="495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0312"/>
            <a:ext cx="2221992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210312"/>
            <a:ext cx="1832841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210312"/>
            <a:ext cx="409835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9144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20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685800"/>
            <a:ext cx="8440251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8330" y="1773857"/>
            <a:ext cx="401193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8740" y="1773858"/>
            <a:ext cx="401193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381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29" y="685800"/>
            <a:ext cx="8442198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330" y="1773857"/>
            <a:ext cx="4011798" cy="590144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8330" y="2368476"/>
            <a:ext cx="4011798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68597" y="1773857"/>
            <a:ext cx="4011930" cy="590144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68597" y="2368476"/>
            <a:ext cx="401193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5169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626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592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9144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832104"/>
            <a:ext cx="8440251" cy="1225296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6263640"/>
            <a:ext cx="2221992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6263640"/>
            <a:ext cx="1450165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6263640"/>
            <a:ext cx="409835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8" y="3429001"/>
            <a:ext cx="8440252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27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20" y="1270390"/>
            <a:ext cx="5947485" cy="2060888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2" y="3794762"/>
            <a:ext cx="5949574" cy="15310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348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561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935798"/>
            <a:ext cx="8440251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419" y="1707582"/>
            <a:ext cx="8440251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8330" y="207982"/>
            <a:ext cx="2222769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38" b="1" cap="all" spc="75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60052" y="207982"/>
            <a:ext cx="1440986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38" b="1" cap="all" spc="75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653" y="207982"/>
            <a:ext cx="40983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38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7625" y="6642100"/>
            <a:ext cx="1483519" cy="115416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5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0356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  <p:sldLayoutId id="2147483894" r:id="rId14"/>
    <p:sldLayoutId id="2147483895" r:id="rId15"/>
    <p:sldLayoutId id="2147483896" r:id="rId16"/>
    <p:sldLayoutId id="2147483897" r:id="rId17"/>
    <p:sldLayoutId id="2147483898" r:id="rId18"/>
    <p:sldLayoutId id="2147483899" r:id="rId19"/>
    <p:sldLayoutId id="2147483900" r:id="rId20"/>
    <p:sldLayoutId id="2147483901" r:id="rId21"/>
    <p:sldLayoutId id="2147483902" r:id="rId22"/>
    <p:sldLayoutId id="2147483903" r:id="rId23"/>
    <p:sldLayoutId id="2147483904" r:id="rId24"/>
    <p:sldLayoutId id="2147483905" r:id="rId25"/>
    <p:sldLayoutId id="2147483906" r:id="rId26"/>
    <p:sldLayoutId id="2147483907" r:id="rId27"/>
  </p:sldLayoutIdLst>
  <p:txStyles>
    <p:titleStyle>
      <a:lvl1pPr algn="l" defTabSz="685800" rtl="0" eaLnBrk="1" latinLnBrk="0" hangingPunct="1">
        <a:lnSpc>
          <a:spcPct val="70000"/>
        </a:lnSpc>
        <a:spcBef>
          <a:spcPct val="0"/>
        </a:spcBef>
        <a:buNone/>
        <a:defRPr sz="3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Topographic Forest Cover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>
                <a:latin typeface="Arial Rounded MT Bold" panose="020F0704030504030204" pitchFamily="34" charset="0"/>
              </a:rPr>
              <a:t>Machine Learning Pipeline Review</a:t>
            </a:r>
          </a:p>
          <a:p>
            <a:r>
              <a:rPr b="1" dirty="0"/>
              <a:t>23CSE301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Objective: End-to-end machine learning pipeline to classify 30x30 meter forest plots.</a:t>
            </a:r>
          </a:p>
          <a:p>
            <a:r>
              <a:rPr sz="1600" dirty="0"/>
              <a:t>Target Variable: </a:t>
            </a:r>
            <a:r>
              <a:rPr sz="1600" dirty="0" err="1"/>
              <a:t>Cover_Type</a:t>
            </a:r>
            <a:r>
              <a:rPr sz="1600" dirty="0"/>
              <a:t> (7 discrete forest species).</a:t>
            </a:r>
          </a:p>
          <a:p>
            <a:pPr lvl="1"/>
            <a:r>
              <a:rPr sz="1600" dirty="0"/>
              <a:t>Examples: Spruce/Fir, Aspen, Lodgepole Pine.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Volume: Over 500,000 spatial records.</a:t>
            </a:r>
          </a:p>
          <a:p>
            <a:r>
              <a:rPr sz="1600" dirty="0"/>
              <a:t>Features: 54 independent variables.</a:t>
            </a:r>
          </a:p>
          <a:p>
            <a:pPr lvl="1"/>
            <a:r>
              <a:rPr sz="1600" dirty="0"/>
              <a:t>Continuous Topology: Elevation, Slope, Aspect.</a:t>
            </a:r>
          </a:p>
          <a:p>
            <a:pPr lvl="1"/>
            <a:r>
              <a:rPr sz="1600" dirty="0"/>
              <a:t>Categorical Data: Binary flags for Soil Types and Wilderness Areas.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Interpretability: Develop models suitable for geographic mapping applications.</a:t>
            </a:r>
          </a:p>
          <a:p>
            <a:r>
              <a:rPr sz="1800" dirty="0"/>
              <a:t>Class Imbalance Treatment: Ensure high classification accuracy across minority species using appropriately weighted metrics.</a:t>
            </a:r>
          </a:p>
          <a:p>
            <a:r>
              <a:rPr sz="1800" dirty="0"/>
              <a:t>Data Integrity: Establish strict boundaries to eliminate data leakage during feature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Preparation &amp;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Data Cleansing: Strict deduplication to prevent target leakage.</a:t>
            </a:r>
          </a:p>
          <a:p>
            <a:r>
              <a:rPr sz="1800" dirty="0"/>
              <a:t>Target Encoding: Sequential integer mapping (1-7 converted to 0-6).</a:t>
            </a:r>
          </a:p>
          <a:p>
            <a:r>
              <a:rPr sz="1800" dirty="0"/>
              <a:t>Spatial Feature Engineering:</a:t>
            </a:r>
          </a:p>
          <a:p>
            <a:pPr lvl="1"/>
            <a:r>
              <a:rPr sz="1800" dirty="0"/>
              <a:t>Calculated Euclidean distance to hydrology (combining horizontal and vertical vectors).</a:t>
            </a:r>
          </a:p>
          <a:p>
            <a:pPr lvl="1"/>
            <a:r>
              <a:rPr sz="1800" dirty="0"/>
              <a:t>Computed solar flux differentials (morning vs. afternoon </a:t>
            </a:r>
            <a:r>
              <a:rPr sz="1800" dirty="0" err="1"/>
              <a:t>hillshades</a:t>
            </a:r>
            <a:r>
              <a:rPr sz="1800" dirty="0"/>
              <a:t>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Preprocessor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Partitioning: 80/20 stratified split preserves severe class proportions across train and test sets.</a:t>
            </a:r>
          </a:p>
          <a:p>
            <a:r>
              <a:rPr sz="1800" dirty="0" err="1"/>
              <a:t>ColumnTransformer</a:t>
            </a:r>
            <a:r>
              <a:rPr sz="1800" dirty="0"/>
              <a:t> Implementation:</a:t>
            </a:r>
          </a:p>
          <a:p>
            <a:pPr lvl="1"/>
            <a:r>
              <a:rPr sz="1800" dirty="0"/>
              <a:t>Standard scaling applied exclusively to continuous features.</a:t>
            </a:r>
          </a:p>
          <a:p>
            <a:pPr lvl="1"/>
            <a:r>
              <a:rPr sz="1800" dirty="0"/>
              <a:t>Binary categorical flags passed through unchanged to preserve matrix sparsity.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Predictive Modeling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Evaluated five core algorithms:</a:t>
            </a:r>
          </a:p>
          <a:p>
            <a:pPr lvl="1"/>
            <a:r>
              <a:rPr sz="1800" dirty="0"/>
              <a:t>Logistic Regression: Parametric baseline for multinomial log-odds.</a:t>
            </a:r>
          </a:p>
          <a:p>
            <a:pPr lvl="1"/>
            <a:r>
              <a:rPr sz="1800" dirty="0"/>
              <a:t>K-Nearest Neighbors (KNN): Distance-based spatial classification.</a:t>
            </a:r>
          </a:p>
          <a:p>
            <a:pPr lvl="1"/>
            <a:r>
              <a:rPr sz="1800" dirty="0"/>
              <a:t>Gaussian Naive Bayes: Probabilistic independence baseline.</a:t>
            </a:r>
          </a:p>
          <a:p>
            <a:pPr lvl="1"/>
            <a:r>
              <a:rPr sz="1800" dirty="0"/>
              <a:t>Decision Tree: Captures non-linear topological hierarchies (tuned via </a:t>
            </a:r>
            <a:r>
              <a:rPr sz="1800" dirty="0" err="1"/>
              <a:t>GridSearch</a:t>
            </a:r>
            <a:r>
              <a:rPr sz="1800" dirty="0"/>
              <a:t>).</a:t>
            </a:r>
          </a:p>
          <a:p>
            <a:pPr lvl="1"/>
            <a:r>
              <a:rPr sz="1800" dirty="0"/>
              <a:t>Support Vector Machine (SVC): RBF kernels for maximum-margin separation.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Accuracy, weighted F1, and confusion matrix reported per algorithm.</a:t>
            </a:r>
          </a:p>
          <a:p>
            <a:r>
              <a:rPr sz="1800" dirty="0"/>
              <a:t>Key Finding 1: Elevation remains the dominant discriminant across all cover types.</a:t>
            </a:r>
          </a:p>
          <a:p>
            <a:r>
              <a:rPr sz="1800" dirty="0"/>
              <a:t>Key Finding 2: Tree-based architectures and distance-weighted models effectively navigate non-linear boundaries.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Comparative Results Table (Algorithms vs. Metrics)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246588"/>
              </p:ext>
            </p:extLst>
          </p:nvPr>
        </p:nvGraphicFramePr>
        <p:xfrm>
          <a:off x="457200" y="2034540"/>
          <a:ext cx="82296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b="1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Weighted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Macro 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Fit Time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Tuned 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K-Nearest Neighbors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Support Vector Machine (Subset)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Gaussian 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Results: Model 1 - Logistic Regression Coefficients</a:t>
            </a:r>
          </a:p>
        </p:txBody>
      </p:sp>
      <p:pic>
        <p:nvPicPr>
          <p:cNvPr id="3" name="Picture 2" descr="m1_logreg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44" y="1872048"/>
            <a:ext cx="7315200" cy="31139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Results: Model 2 - KNN Sensitivity Analysis</a:t>
            </a:r>
          </a:p>
        </p:txBody>
      </p:sp>
      <p:pic>
        <p:nvPicPr>
          <p:cNvPr id="3" name="Picture 2" descr="m2_kn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44360"/>
            <a:ext cx="6858000" cy="33692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Results: Model 3 - Gaussian NB Density Profiles</a:t>
            </a:r>
          </a:p>
        </p:txBody>
      </p:sp>
      <p:pic>
        <p:nvPicPr>
          <p:cNvPr id="3" name="Picture 2" descr="m3_gaussian_nb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1094"/>
            <a:ext cx="7315200" cy="32958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Results: Model 4 - Decision Tree Structure</a:t>
            </a:r>
          </a:p>
        </p:txBody>
      </p:sp>
      <p:pic>
        <p:nvPicPr>
          <p:cNvPr id="3" name="Picture 2" descr="m4_decision_tree_spl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12630"/>
            <a:ext cx="8229600" cy="30327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Results: Model 4 - Decision Tree Feature Importance</a:t>
            </a:r>
          </a:p>
        </p:txBody>
      </p:sp>
      <p:pic>
        <p:nvPicPr>
          <p:cNvPr id="3" name="Picture 2" descr="m4_d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3441"/>
            <a:ext cx="7315200" cy="31111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Results: Model 5 - SVC Confusion Matrix</a:t>
            </a:r>
          </a:p>
        </p:txBody>
      </p:sp>
      <p:pic>
        <p:nvPicPr>
          <p:cNvPr id="3" name="Picture 2" descr="m5_svc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84116"/>
            <a:ext cx="5486400" cy="48615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Results: Cross-Model ROC Analysis</a:t>
            </a:r>
          </a:p>
        </p:txBody>
      </p:sp>
      <p:pic>
        <p:nvPicPr>
          <p:cNvPr id="3" name="Picture 2" descr="comparative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01479"/>
            <a:ext cx="6400800" cy="458603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Deployability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Performing Model: Tuned Decision Tree / Tree-based architectures.</a:t>
            </a:r>
          </a:p>
          <a:p>
            <a:r>
              <a:t>Real-Time Inference: Capable of accepting localized cartographic parameters (e.g., altitude, slope) and returning probabilistic species distributions.</a:t>
            </a:r>
          </a:p>
          <a:p>
            <a:r>
              <a:t>Deployment Recommendation: The pipeline is optimized for spatial integration, maintaining minimal latency for geographic mapping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6</TotalTime>
  <Words>492</Words>
  <Application>Microsoft Office PowerPoint</Application>
  <PresentationFormat>On-screen Show (4:3)</PresentationFormat>
  <Paragraphs>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Arial Rounded MT Bold</vt:lpstr>
      <vt:lpstr>Haettenschweiler</vt:lpstr>
      <vt:lpstr>Trade Gothic Next Light</vt:lpstr>
      <vt:lpstr>Editorial</vt:lpstr>
      <vt:lpstr>Topographic Forest Cover Classification</vt:lpstr>
      <vt:lpstr>Introduction</vt:lpstr>
      <vt:lpstr>Dataset Characteristics</vt:lpstr>
      <vt:lpstr>Motivation &amp; Objectives</vt:lpstr>
      <vt:lpstr>Approach: Preparation &amp; Engineering</vt:lpstr>
      <vt:lpstr>Approach: Preprocessor Architecture</vt:lpstr>
      <vt:lpstr>Approach: Predictive Modeling Suite</vt:lpstr>
      <vt:lpstr>Results: Evaluation Framework</vt:lpstr>
      <vt:lpstr>Comparative Results Table (Algorithms vs. Metrics)</vt:lpstr>
      <vt:lpstr>Results: Model 1 - Logistic Regression Coefficients</vt:lpstr>
      <vt:lpstr>Results: Model 2 - KNN Sensitivity Analysis</vt:lpstr>
      <vt:lpstr>Results: Model 3 - Gaussian NB Density Profiles</vt:lpstr>
      <vt:lpstr>Results: Model 4 - Decision Tree Structure</vt:lpstr>
      <vt:lpstr>Results: Model 4 - Decision Tree Feature Importance</vt:lpstr>
      <vt:lpstr>Results: Model 5 - SVC Confusion Matrix</vt:lpstr>
      <vt:lpstr>Results: Cross-Model ROC Analysis</vt:lpstr>
      <vt:lpstr>Conclusion &amp; Deployability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Kabil K</cp:lastModifiedBy>
  <cp:revision>2</cp:revision>
  <dcterms:created xsi:type="dcterms:W3CDTF">2013-01-27T09:14:16Z</dcterms:created>
  <dcterms:modified xsi:type="dcterms:W3CDTF">2026-09-19T17:59:59Z</dcterms:modified>
  <cp:category/>
</cp:coreProperties>
</file>