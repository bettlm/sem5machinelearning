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1033272"/>
            <a:ext cx="4419055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" y="5733288"/>
            <a:ext cx="4419053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8364" y="793818"/>
            <a:ext cx="3945636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3940" y="207982"/>
            <a:ext cx="199709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5197367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5420250"/>
            <a:ext cx="51973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992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8440251" cy="1106424"/>
          </a:xfrm>
        </p:spPr>
        <p:txBody>
          <a:bodyPr/>
          <a:lstStyle>
            <a:lvl1pPr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9" y="2139696"/>
            <a:ext cx="8440251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7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223554"/>
            <a:ext cx="85725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6083090"/>
            <a:ext cx="85724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914171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97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758952"/>
            <a:ext cx="569214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5404104"/>
            <a:ext cx="8636458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54496"/>
            <a:ext cx="222276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6254496"/>
            <a:ext cx="125973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54496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995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" y="1435608"/>
            <a:ext cx="8695944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43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106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521208"/>
            <a:ext cx="4985766" cy="1865376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799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2651760"/>
            <a:ext cx="4745736" cy="354787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3924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0133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3692937" y="2452449"/>
            <a:ext cx="545106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3692937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109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2077375"/>
            <a:ext cx="3359330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683" y="2210543"/>
            <a:ext cx="4401970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3683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983954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10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1249960"/>
            <a:ext cx="3064434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788" y="1249959"/>
            <a:ext cx="4830318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2890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689060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65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57" y="749808"/>
            <a:ext cx="4831518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274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8156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6920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8157" y="2944369"/>
            <a:ext cx="4831519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2746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56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612648"/>
            <a:ext cx="5266944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210312"/>
            <a:ext cx="2648578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210312"/>
            <a:ext cx="125973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746504"/>
            <a:ext cx="5266944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204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526161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18713" y="207982"/>
            <a:ext cx="126187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92196" y="20798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746504"/>
            <a:ext cx="5263703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30195" y="0"/>
            <a:ext cx="331291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826625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888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30" y="749808"/>
            <a:ext cx="4333670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76872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10570" y="21031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993392"/>
            <a:ext cx="4333670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1562" y="0"/>
            <a:ext cx="42124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4927972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95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309276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210312"/>
            <a:ext cx="1695043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71997" y="210312"/>
            <a:ext cx="793583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648" y="210312"/>
            <a:ext cx="33072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8" y="2578610"/>
            <a:ext cx="3097955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84494" y="0"/>
            <a:ext cx="545950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0972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727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8636066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2180556"/>
            <a:ext cx="3759266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005" y="1834524"/>
            <a:ext cx="47840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362341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309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166364"/>
            <a:ext cx="2742398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8572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341" y="5166364"/>
            <a:ext cx="5305332" cy="122342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437377"/>
            <a:ext cx="22219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4341" y="6437194"/>
            <a:ext cx="341206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437376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3212569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938" y="4842106"/>
            <a:ext cx="914493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076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762003"/>
            <a:ext cx="4959590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0" y="2435966"/>
            <a:ext cx="5462794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51" y="762000"/>
            <a:ext cx="306961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45782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457825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335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48056"/>
            <a:ext cx="863606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07982"/>
            <a:ext cx="409835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711" y="1700784"/>
            <a:ext cx="2488628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1" y="2130553"/>
            <a:ext cx="5978594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2488628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130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24" y="1188720"/>
            <a:ext cx="305181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1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42" y="1609344"/>
            <a:ext cx="5081778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25050" dirty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81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8330" y="914400"/>
            <a:ext cx="7534070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1pPr>
            <a:lvl2pPr marL="17145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2pPr>
            <a:lvl3pPr marL="34290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3pPr>
            <a:lvl4pPr marL="514350" indent="0">
              <a:lnSpc>
                <a:spcPct val="100000"/>
              </a:lnSpc>
              <a:buNone/>
              <a:defRPr sz="4950" b="0">
                <a:solidFill>
                  <a:schemeClr val="tx2"/>
                </a:solidFill>
                <a:latin typeface="+mj-lt"/>
              </a:defRPr>
            </a:lvl4pPr>
            <a:lvl5pPr marL="685800" indent="0">
              <a:lnSpc>
                <a:spcPct val="100000"/>
              </a:lnSpc>
              <a:buNone/>
              <a:defRPr sz="45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63640"/>
            <a:ext cx="2222769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052" y="6263640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64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24" y="5440220"/>
            <a:ext cx="6974586" cy="1015996"/>
          </a:xfrm>
        </p:spPr>
        <p:txBody>
          <a:bodyPr anchor="ctr">
            <a:normAutofit/>
          </a:bodyPr>
          <a:lstStyle>
            <a:lvl1pPr>
              <a:defRPr sz="15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0030" y="1170817"/>
            <a:ext cx="7269480" cy="3872159"/>
          </a:xfrm>
        </p:spPr>
        <p:txBody>
          <a:bodyPr>
            <a:normAutofit/>
          </a:bodyPr>
          <a:lstStyle>
            <a:lvl1pPr marL="205740" indent="-205740">
              <a:lnSpc>
                <a:spcPct val="70000"/>
              </a:lnSpc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  <a:lvl2pPr marL="205740" indent="-205740">
              <a:lnSpc>
                <a:spcPct val="70000"/>
              </a:lnSpc>
              <a:buNone/>
              <a:defRPr sz="6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05740" indent="-205740">
              <a:lnSpc>
                <a:spcPct val="70000"/>
              </a:lnSpc>
              <a:buNone/>
              <a:defRPr sz="54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832841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9144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567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85800"/>
            <a:ext cx="844025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330" y="1773857"/>
            <a:ext cx="401193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740" y="1773858"/>
            <a:ext cx="401193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4659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29" y="685800"/>
            <a:ext cx="8442198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773857"/>
            <a:ext cx="4011798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8330" y="2368476"/>
            <a:ext cx="4011798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773857"/>
            <a:ext cx="4011930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8597" y="2368476"/>
            <a:ext cx="401193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186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89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700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832104"/>
            <a:ext cx="8440251" cy="1225296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263640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6263640"/>
            <a:ext cx="145016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8" y="3429001"/>
            <a:ext cx="8440252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2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20" y="1270390"/>
            <a:ext cx="5947485" cy="2060888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2" y="3794762"/>
            <a:ext cx="5949574" cy="15310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1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935798"/>
            <a:ext cx="8440251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19" y="1707582"/>
            <a:ext cx="8440251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330" y="207982"/>
            <a:ext cx="2222769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52" y="207982"/>
            <a:ext cx="1440986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653" y="207982"/>
            <a:ext cx="40983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38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6642100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3628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685800" rtl="0" eaLnBrk="1" latinLnBrk="0" hangingPunct="1">
        <a:lnSpc>
          <a:spcPct val="70000"/>
        </a:lnSpc>
        <a:spcBef>
          <a:spcPct val="0"/>
        </a:spcBef>
        <a:buNone/>
        <a:defRPr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Topographic Forest Cover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1400" dirty="0"/>
              <a:t>Machine Learning Pipeline Review</a:t>
            </a:r>
          </a:p>
          <a:p>
            <a:r>
              <a:rPr sz="1400" dirty="0"/>
              <a:t>23CSE301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Objective: End-to-end machine learning pipeline to classify 30x30 meter forest plots.</a:t>
            </a:r>
          </a:p>
          <a:p>
            <a:r>
              <a:rPr sz="1600" dirty="0"/>
              <a:t>Target Variable: </a:t>
            </a:r>
            <a:r>
              <a:rPr sz="1600" dirty="0" err="1"/>
              <a:t>Cover_Type</a:t>
            </a:r>
            <a:r>
              <a:rPr sz="1600" dirty="0"/>
              <a:t> (7 discrete forest species).</a:t>
            </a:r>
          </a:p>
          <a:p>
            <a:pPr lvl="1"/>
            <a:r>
              <a:rPr sz="1600" dirty="0"/>
              <a:t>Examples: Spruce/Fir, Aspen, Lodgepole Pine.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Volume: Over 500,000 spatial records.</a:t>
            </a:r>
          </a:p>
          <a:p>
            <a:r>
              <a:rPr sz="1600" dirty="0"/>
              <a:t>Features: 54 independent variables.</a:t>
            </a:r>
          </a:p>
          <a:p>
            <a:pPr lvl="1"/>
            <a:r>
              <a:rPr sz="1600" dirty="0"/>
              <a:t>Continuous Topology: Elevation, Slope, Aspect.</a:t>
            </a:r>
          </a:p>
          <a:p>
            <a:pPr lvl="1"/>
            <a:r>
              <a:rPr sz="1600" dirty="0"/>
              <a:t>Categorical Data: Binary flags for Soil Types and Wilderness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Interpretability: Develop models suitable for geographic mapping applications.</a:t>
            </a:r>
          </a:p>
          <a:p>
            <a:r>
              <a:rPr sz="1600" dirty="0"/>
              <a:t>Class Imbalance Treatment: Ensure high classification accuracy across minority species using macro-averaged metrics.</a:t>
            </a:r>
          </a:p>
          <a:p>
            <a:r>
              <a:rPr sz="1600" dirty="0"/>
              <a:t>Data Integrity: Establish strict boundaries to eliminate data leakage during feature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Preparation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Data Cleansing: Strict deduplication to prevent target leakage.</a:t>
            </a:r>
          </a:p>
          <a:p>
            <a:r>
              <a:rPr sz="1600" dirty="0"/>
              <a:t>Target Encoding: Sequential integer mapping (1-7 converted to 0-6).</a:t>
            </a:r>
          </a:p>
          <a:p>
            <a:r>
              <a:rPr sz="1600" dirty="0"/>
              <a:t>Spatial Feature Engineering:</a:t>
            </a:r>
          </a:p>
          <a:p>
            <a:pPr lvl="1"/>
            <a:r>
              <a:rPr sz="1600" dirty="0"/>
              <a:t>Calculated Euclidean distance to hydrology (combining horizontal and vertical vectors).</a:t>
            </a:r>
          </a:p>
          <a:p>
            <a:pPr lvl="1"/>
            <a:r>
              <a:rPr sz="1600" dirty="0"/>
              <a:t>Computed solar flux differentials (morning vs. afternoon </a:t>
            </a:r>
            <a:r>
              <a:rPr sz="1600" dirty="0" err="1"/>
              <a:t>hillshades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Preprocessor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Partitioning: 80/20 stratified split preserves severe class proportions across train and test sets.</a:t>
            </a:r>
          </a:p>
          <a:p>
            <a:r>
              <a:rPr sz="1600" dirty="0" err="1"/>
              <a:t>ColumnTransformer</a:t>
            </a:r>
            <a:r>
              <a:rPr sz="1600" dirty="0"/>
              <a:t> Implementation:</a:t>
            </a:r>
          </a:p>
          <a:p>
            <a:pPr lvl="1"/>
            <a:r>
              <a:rPr sz="1600" dirty="0"/>
              <a:t>Standard scaling applied exclusively to continuous features.</a:t>
            </a:r>
          </a:p>
          <a:p>
            <a:pPr lvl="1"/>
            <a:r>
              <a:rPr sz="1600" dirty="0"/>
              <a:t>Binary categorical flags passed through unchanged to preserve matrix sparsity.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Predictive Modeling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Evaluated five core algorithms:</a:t>
            </a:r>
          </a:p>
          <a:p>
            <a:pPr lvl="1"/>
            <a:r>
              <a:rPr sz="1600" dirty="0"/>
              <a:t>Logistic Regression: Parametric baseline for multinomial log-odds.</a:t>
            </a:r>
          </a:p>
          <a:p>
            <a:pPr lvl="1"/>
            <a:r>
              <a:rPr sz="1600" dirty="0"/>
              <a:t>K-Nearest Neighbors (KNN): Distance-based spatial classification.</a:t>
            </a:r>
          </a:p>
          <a:p>
            <a:pPr lvl="1"/>
            <a:r>
              <a:rPr sz="1600" dirty="0"/>
              <a:t>Gaussian Naive Bayes: Probabilistic independence baseline.</a:t>
            </a:r>
          </a:p>
          <a:p>
            <a:pPr lvl="1"/>
            <a:r>
              <a:rPr sz="1600" dirty="0"/>
              <a:t>Decision Tree: Captures non-linear topological hierarchies (tuned via </a:t>
            </a:r>
            <a:r>
              <a:rPr sz="1600" dirty="0" err="1"/>
              <a:t>GridSearch</a:t>
            </a:r>
            <a:r>
              <a:rPr sz="1600" dirty="0"/>
              <a:t>).</a:t>
            </a:r>
          </a:p>
          <a:p>
            <a:pPr lvl="1"/>
            <a:r>
              <a:rPr sz="1600" dirty="0"/>
              <a:t>Support Vector Machine (SVC): RBF kernels for maximum-margin separation.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Primary Metrics: Macro F1-Score and Macro ROC-AUC.</a:t>
            </a:r>
          </a:p>
          <a:p>
            <a:pPr lvl="1"/>
            <a:r>
              <a:rPr sz="1600" dirty="0"/>
              <a:t>Rationale: Standard accuracy is skewed by majority classes; macro-averaging weighs all 7 species equally.</a:t>
            </a:r>
          </a:p>
          <a:p>
            <a:r>
              <a:rPr sz="1600" dirty="0"/>
              <a:t>Key Finding 1: Elevation remains the dominant discriminant across all cover types.</a:t>
            </a:r>
          </a:p>
          <a:p>
            <a:r>
              <a:rPr sz="1600" dirty="0"/>
              <a:t>Key Finding 2: Tree-based architectures and distance-weighted models effectively navigate non-linear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Results: Model 1 - Logistic Regression Coefficients</a:t>
            </a:r>
          </a:p>
        </p:txBody>
      </p:sp>
      <p:pic>
        <p:nvPicPr>
          <p:cNvPr id="3" name="Picture 2" descr="m1_logreg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2048"/>
            <a:ext cx="7315200" cy="31139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2 - KNN Sensitivity Analysis</a:t>
            </a:r>
          </a:p>
        </p:txBody>
      </p:sp>
      <p:pic>
        <p:nvPicPr>
          <p:cNvPr id="3" name="Picture 2" descr="m2_kn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4360"/>
            <a:ext cx="6858000" cy="33692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3 - Gaussian NB Density Profiles</a:t>
            </a:r>
          </a:p>
        </p:txBody>
      </p:sp>
      <p:pic>
        <p:nvPicPr>
          <p:cNvPr id="3" name="Picture 2" descr="m3_gaussian_nb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1094"/>
            <a:ext cx="7315200" cy="32958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4 - Decision Tree Structure</a:t>
            </a:r>
          </a:p>
        </p:txBody>
      </p:sp>
      <p:pic>
        <p:nvPicPr>
          <p:cNvPr id="3" name="Picture 2" descr="m4_decision_tree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0" y="1912630"/>
            <a:ext cx="8229600" cy="30327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4 - Decision Tree Feature Importance</a:t>
            </a:r>
          </a:p>
        </p:txBody>
      </p:sp>
      <p:pic>
        <p:nvPicPr>
          <p:cNvPr id="3" name="Picture 2" descr="m4_d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3441"/>
            <a:ext cx="7315200" cy="3111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5 - SVC Confusion Matrix</a:t>
            </a:r>
          </a:p>
        </p:txBody>
      </p:sp>
      <p:pic>
        <p:nvPicPr>
          <p:cNvPr id="3" name="Picture 2" descr="m5_sv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1488"/>
            <a:ext cx="5486400" cy="48615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Cross-Model ROC Analysis</a:t>
            </a:r>
          </a:p>
        </p:txBody>
      </p:sp>
      <p:pic>
        <p:nvPicPr>
          <p:cNvPr id="3" name="Picture 2" descr="comparative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74640"/>
            <a:ext cx="6400800" cy="45860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Deployability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Best Performing Model: Tuned Decision Tree / Tree-based architectures.</a:t>
            </a:r>
          </a:p>
          <a:p>
            <a:r>
              <a:rPr sz="1600" dirty="0"/>
              <a:t>Real-Time Inference: Capable of accepting localized cartographic parameters (e.g., altitude, slope) and returning probabilistic species distributions.</a:t>
            </a:r>
          </a:p>
          <a:p>
            <a:r>
              <a:rPr sz="1600" dirty="0"/>
              <a:t>Deployment Recommendation: The pipeline is optimized for spatial integration, maintaining minimal latency for geographic mapping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</TotalTime>
  <Words>449</Words>
  <Application>Microsoft Office PowerPoint</Application>
  <PresentationFormat>On-screen Show (4:3)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Haettenschweiler</vt:lpstr>
      <vt:lpstr>Trade Gothic Next Light</vt:lpstr>
      <vt:lpstr>Editorial</vt:lpstr>
      <vt:lpstr>Topographic Forest Cover Classification</vt:lpstr>
      <vt:lpstr>Introduction</vt:lpstr>
      <vt:lpstr>Dataset Characteristics</vt:lpstr>
      <vt:lpstr>Motivation &amp; Objectives</vt:lpstr>
      <vt:lpstr>Approach: Preparation &amp; Engineering</vt:lpstr>
      <vt:lpstr>Approach: Preprocessor Architecture</vt:lpstr>
      <vt:lpstr>Approach: Predictive Modeling Suite</vt:lpstr>
      <vt:lpstr>Results: Evaluation Framework</vt:lpstr>
      <vt:lpstr>Results: Model 1 - Logistic Regression Coefficients</vt:lpstr>
      <vt:lpstr>Results: Model 2 - KNN Sensitivity Analysis</vt:lpstr>
      <vt:lpstr>Results: Model 3 - Gaussian NB Density Profiles</vt:lpstr>
      <vt:lpstr>Results: Model 4 - Decision Tree Structure</vt:lpstr>
      <vt:lpstr>Results: Model 4 - Decision Tree Feature Importance</vt:lpstr>
      <vt:lpstr>Results: Model 5 - SVC Confusion Matrix</vt:lpstr>
      <vt:lpstr>Results: Cross-Model ROC Analysis</vt:lpstr>
      <vt:lpstr>Conclusion &amp; Deployability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Kabil K</cp:lastModifiedBy>
  <cp:revision>2</cp:revision>
  <dcterms:created xsi:type="dcterms:W3CDTF">2013-01-27T09:14:16Z</dcterms:created>
  <dcterms:modified xsi:type="dcterms:W3CDTF">2026-09-18T08:08:28Z</dcterms:modified>
  <cp:category/>
</cp:coreProperties>
</file>